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5" r:id="rId1"/>
  </p:sldMasterIdLst>
  <p:sldIdLst>
    <p:sldId id="256" r:id="rId2"/>
    <p:sldId id="272" r:id="rId3"/>
    <p:sldId id="258" r:id="rId4"/>
    <p:sldId id="259" r:id="rId5"/>
    <p:sldId id="260" r:id="rId6"/>
    <p:sldId id="273" r:id="rId7"/>
    <p:sldId id="263" r:id="rId8"/>
    <p:sldId id="264" r:id="rId9"/>
    <p:sldId id="274" r:id="rId10"/>
    <p:sldId id="267" r:id="rId11"/>
    <p:sldId id="266" r:id="rId12"/>
    <p:sldId id="275" r:id="rId13"/>
    <p:sldId id="269" r:id="rId14"/>
    <p:sldId id="270" r:id="rId15"/>
    <p:sldId id="271" r:id="rId16"/>
    <p:sldId id="27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6" d="100"/>
          <a:sy n="86" d="100"/>
        </p:scale>
        <p:origin x="13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71316" cy="6874935"/>
            <a:chOff x="-8466" y="-8468"/>
            <a:chExt cx="9171316" cy="6874935"/>
          </a:xfrm>
        </p:grpSpPr>
        <p:cxnSp>
          <p:nvCxnSpPr>
            <p:cNvPr id="28" name="Straight Connector 2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30" name="Freeform 2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Freeform 3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2" name="Freeform 3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33" name="Freeform 3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4" name="Freeform 3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5" name="Freeform 3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36" name="Freeform 3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1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F4ED6C0-61B4-4111-B010-0034C61974D0}" type="datetimeFigureOut">
              <a:rPr lang="en-US" smtClean="0"/>
              <a:t>26/11/2020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3606998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4ED6C0-61B4-4111-B010-0034C61974D0}" type="datetimeFigureOut">
              <a:rPr lang="en-US" smtClean="0"/>
              <a:t>26/11/2020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851260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4ED6C0-61B4-4111-B010-0034C61974D0}" type="datetimeFigureOut">
              <a:rPr lang="en-US" smtClean="0"/>
              <a:t>26/11/2020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476574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F4ED6C0-61B4-4111-B010-0034C61974D0}" type="datetimeFigureOut">
              <a:rPr lang="en-US" smtClean="0"/>
              <a:t>26/11/2020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2075943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F4ED6C0-61B4-4111-B010-0034C61974D0}" type="datetimeFigureOut">
              <a:rPr lang="en-US" smtClean="0"/>
              <a:t>26/11/2020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7405576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ED6C0-61B4-4111-B010-0034C61974D0}" type="datetimeFigureOut">
              <a:rPr lang="en-US" smtClean="0"/>
              <a:t>26/11/2020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1956208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4ED6C0-61B4-4111-B010-0034C61974D0}" type="datetimeFigureOut">
              <a:rPr lang="en-US" smtClean="0"/>
              <a:t>26/11/2020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2228461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F4ED6C0-61B4-4111-B010-0034C61974D0}" type="datetimeFigureOut">
              <a:rPr lang="en-US" smtClean="0"/>
              <a:t>26/11/2020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28252726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F4ED6C0-61B4-4111-B010-0034C61974D0}" type="datetimeFigureOut">
              <a:rPr lang="en-US" smtClean="0"/>
              <a:t>26/11/2020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4233881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4ED6C0-61B4-4111-B010-0034C61974D0}" type="datetimeFigureOut">
              <a:rPr lang="en-US" smtClean="0"/>
              <a:t>26/11/2020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1315377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4ED6C0-61B4-4111-B010-0034C61974D0}" type="datetimeFigureOut">
              <a:rPr lang="en-US" smtClean="0"/>
              <a:t>26/11/2020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4A03D-B9BD-4F3A-AC61-5C0F809743B3}"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189407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4ED6C0-61B4-4111-B010-0034C61974D0}" type="datetimeFigureOut">
              <a:rPr lang="en-US" smtClean="0"/>
              <a:t>26/11/2020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25035200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4ED6C0-61B4-4111-B010-0034C61974D0}" type="datetimeFigureOut">
              <a:rPr lang="en-US" smtClean="0"/>
              <a:t>26/11/2020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4A03D-B9BD-4F3A-AC61-5C0F809743B3}" type="slidenum">
              <a:rPr lang="en-US" smtClean="0"/>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1637823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F4ED6C0-61B4-4111-B010-0034C61974D0}" type="datetimeFigureOut">
              <a:rPr lang="en-US" smtClean="0"/>
              <a:t>26/11/2020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24657121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4ED6C0-61B4-4111-B010-0034C61974D0}" type="datetimeFigureOut">
              <a:rPr lang="en-US" smtClean="0"/>
              <a:t>26/11/2020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1925921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4ED6C0-61B4-4111-B010-0034C61974D0}" type="datetimeFigureOut">
              <a:rPr lang="en-US" smtClean="0"/>
              <a:t>26/11/2020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44A03D-B9BD-4F3A-AC61-5C0F809743B3}" type="slidenum">
              <a:rPr lang="en-US" smtClean="0"/>
              <a:t>‹#›</a:t>
            </a:fld>
            <a:endParaRPr lang="en-US"/>
          </a:p>
        </p:txBody>
      </p:sp>
    </p:spTree>
    <p:extLst>
      <p:ext uri="{BB962C8B-B14F-4D97-AF65-F5344CB8AC3E}">
        <p14:creationId xmlns:p14="http://schemas.microsoft.com/office/powerpoint/2010/main" val="31024094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71317" cy="6874935"/>
            <a:chOff x="-8467" y="-8468"/>
            <a:chExt cx="9171317"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94165"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2">
                <a:lumMod val="75000"/>
                <a:alpha val="8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8764"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F4ED6C0-61B4-4111-B010-0034C61974D0}" type="datetimeFigureOut">
              <a:rPr lang="en-US" smtClean="0"/>
              <a:t>26/11/2020</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2744A03D-B9BD-4F3A-AC61-5C0F809743B3}" type="slidenum">
              <a:rPr lang="en-US" smtClean="0"/>
              <a:t>‹#›</a:t>
            </a:fld>
            <a:endParaRPr lang="en-US"/>
          </a:p>
        </p:txBody>
      </p:sp>
    </p:spTree>
    <p:extLst>
      <p:ext uri="{BB962C8B-B14F-4D97-AF65-F5344CB8AC3E}">
        <p14:creationId xmlns:p14="http://schemas.microsoft.com/office/powerpoint/2010/main" val="1939034864"/>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493AC-8D8F-48C6-89EB-651095A07053}"/>
              </a:ext>
            </a:extLst>
          </p:cNvPr>
          <p:cNvSpPr>
            <a:spLocks noGrp="1"/>
          </p:cNvSpPr>
          <p:nvPr>
            <p:ph type="ctrTitle"/>
          </p:nvPr>
        </p:nvSpPr>
        <p:spPr/>
        <p:txBody>
          <a:bodyPr/>
          <a:lstStyle/>
          <a:p>
            <a:r>
              <a:rPr lang="en-US" dirty="0">
                <a:solidFill>
                  <a:schemeClr val="accent2">
                    <a:lumMod val="75000"/>
                  </a:schemeClr>
                </a:solidFill>
              </a:rPr>
              <a:t>Science of success in Corona time</a:t>
            </a:r>
          </a:p>
        </p:txBody>
      </p:sp>
      <p:sp>
        <p:nvSpPr>
          <p:cNvPr id="3" name="Subtitle 2">
            <a:extLst>
              <a:ext uri="{FF2B5EF4-FFF2-40B4-BE49-F238E27FC236}">
                <a16:creationId xmlns:a16="http://schemas.microsoft.com/office/drawing/2014/main" id="{A2737BDB-2387-4030-A3A2-2F7525EB947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41244001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064E6-D900-42C2-871B-F5817F1F73BA}"/>
              </a:ext>
            </a:extLst>
          </p:cNvPr>
          <p:cNvSpPr>
            <a:spLocks noGrp="1"/>
          </p:cNvSpPr>
          <p:nvPr>
            <p:ph idx="1"/>
          </p:nvPr>
        </p:nvSpPr>
        <p:spPr>
          <a:xfrm>
            <a:off x="1029810" y="1358283"/>
            <a:ext cx="6098960" cy="4332303"/>
          </a:xfrm>
        </p:spPr>
        <p:txBody>
          <a:bodyPr>
            <a:normAutofit/>
          </a:bodyPr>
          <a:lstStyle/>
          <a:p>
            <a:r>
              <a:rPr lang="en-US" sz="2800" dirty="0">
                <a:solidFill>
                  <a:srgbClr val="FF0000"/>
                </a:solidFill>
              </a:rPr>
              <a:t>Difference between School and competitive exam</a:t>
            </a:r>
          </a:p>
          <a:p>
            <a:r>
              <a:rPr lang="en-US" sz="2800" dirty="0"/>
              <a:t>Strategies for competitive exams</a:t>
            </a:r>
          </a:p>
          <a:p>
            <a:r>
              <a:rPr lang="en-US" sz="2800" dirty="0"/>
              <a:t>How to prepare for JEE</a:t>
            </a:r>
          </a:p>
          <a:p>
            <a:r>
              <a:rPr lang="en-US" sz="2800" dirty="0"/>
              <a:t>Importance of Self Analysis</a:t>
            </a:r>
          </a:p>
          <a:p>
            <a:r>
              <a:rPr lang="en-US" sz="2800" dirty="0"/>
              <a:t> Why FIITJEE</a:t>
            </a:r>
          </a:p>
        </p:txBody>
      </p:sp>
    </p:spTree>
    <p:extLst>
      <p:ext uri="{BB962C8B-B14F-4D97-AF65-F5344CB8AC3E}">
        <p14:creationId xmlns:p14="http://schemas.microsoft.com/office/powerpoint/2010/main" val="1409312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722D-926B-4C1D-BFE7-1B1E18784DFD}"/>
              </a:ext>
            </a:extLst>
          </p:cNvPr>
          <p:cNvSpPr>
            <a:spLocks noGrp="1"/>
          </p:cNvSpPr>
          <p:nvPr>
            <p:ph type="title"/>
          </p:nvPr>
        </p:nvSpPr>
        <p:spPr/>
        <p:txBody>
          <a:bodyPr>
            <a:normAutofit/>
          </a:bodyPr>
          <a:lstStyle/>
          <a:p>
            <a:r>
              <a:rPr lang="en-US" sz="3600" dirty="0">
                <a:solidFill>
                  <a:schemeClr val="accent1">
                    <a:lumMod val="50000"/>
                  </a:schemeClr>
                </a:solidFill>
              </a:rPr>
              <a:t>Difference between School and competitive exam</a:t>
            </a:r>
            <a:endParaRPr lang="en-US" dirty="0">
              <a:solidFill>
                <a:schemeClr val="accent1">
                  <a:lumMod val="50000"/>
                </a:schemeClr>
              </a:solidFill>
            </a:endParaRPr>
          </a:p>
        </p:txBody>
      </p:sp>
      <p:sp>
        <p:nvSpPr>
          <p:cNvPr id="3" name="Content Placeholder 2">
            <a:extLst>
              <a:ext uri="{FF2B5EF4-FFF2-40B4-BE49-F238E27FC236}">
                <a16:creationId xmlns:a16="http://schemas.microsoft.com/office/drawing/2014/main" id="{CA96195C-4E14-4247-AFE6-E4B896F01AA4}"/>
              </a:ext>
            </a:extLst>
          </p:cNvPr>
          <p:cNvSpPr>
            <a:spLocks noGrp="1"/>
          </p:cNvSpPr>
          <p:nvPr>
            <p:ph idx="1"/>
          </p:nvPr>
        </p:nvSpPr>
        <p:spPr/>
        <p:txBody>
          <a:bodyPr/>
          <a:lstStyle/>
          <a:p>
            <a:r>
              <a:rPr lang="en-US" b="0" i="0" dirty="0">
                <a:solidFill>
                  <a:srgbClr val="333333"/>
                </a:solidFill>
                <a:effectLst/>
                <a:latin typeface="Lato"/>
              </a:rPr>
              <a:t> In </a:t>
            </a:r>
            <a:r>
              <a:rPr lang="en-US" dirty="0">
                <a:solidFill>
                  <a:srgbClr val="333333"/>
                </a:solidFill>
                <a:latin typeface="Lato"/>
              </a:rPr>
              <a:t>school</a:t>
            </a:r>
            <a:r>
              <a:rPr lang="en-US" b="0" i="0" dirty="0">
                <a:solidFill>
                  <a:srgbClr val="333333"/>
                </a:solidFill>
                <a:effectLst/>
                <a:latin typeface="Lato"/>
              </a:rPr>
              <a:t> exams knowing the facts, concepts is sufficient but in the competitive exams application of the concepts is also required.</a:t>
            </a:r>
          </a:p>
          <a:p>
            <a:r>
              <a:rPr lang="en-US" b="0" i="0" dirty="0">
                <a:solidFill>
                  <a:srgbClr val="333333"/>
                </a:solidFill>
                <a:effectLst/>
                <a:latin typeface="Lato"/>
              </a:rPr>
              <a:t> The answers in board exams is subjective while in most of the competitive exams objective type questions are asked.</a:t>
            </a:r>
            <a:endParaRPr lang="en-US" dirty="0">
              <a:solidFill>
                <a:srgbClr val="333333"/>
              </a:solidFill>
              <a:latin typeface="Lato"/>
            </a:endParaRPr>
          </a:p>
          <a:p>
            <a:r>
              <a:rPr lang="en-US" b="0" i="0" dirty="0">
                <a:solidFill>
                  <a:srgbClr val="333333"/>
                </a:solidFill>
                <a:effectLst/>
                <a:latin typeface="Lato"/>
              </a:rPr>
              <a:t>In board exams absolute marks are given importance but in competitive exams relative marks are important.</a:t>
            </a:r>
          </a:p>
          <a:p>
            <a:pPr marL="0" indent="0">
              <a:buNone/>
            </a:pPr>
            <a:r>
              <a:rPr lang="en-US" dirty="0">
                <a:solidFill>
                  <a:srgbClr val="0070C0"/>
                </a:solidFill>
                <a:latin typeface="Lato"/>
              </a:rPr>
              <a:t>S</a:t>
            </a:r>
            <a:r>
              <a:rPr lang="en-US" b="0" i="0" dirty="0">
                <a:solidFill>
                  <a:srgbClr val="0070C0"/>
                </a:solidFill>
                <a:effectLst/>
                <a:latin typeface="Lato"/>
              </a:rPr>
              <a:t>tudents should prepare with a different approach for competitive exams in order to crack them.</a:t>
            </a:r>
            <a:endParaRPr lang="en-US" dirty="0">
              <a:solidFill>
                <a:srgbClr val="0070C0"/>
              </a:solidFill>
            </a:endParaRPr>
          </a:p>
        </p:txBody>
      </p:sp>
    </p:spTree>
    <p:extLst>
      <p:ext uri="{BB962C8B-B14F-4D97-AF65-F5344CB8AC3E}">
        <p14:creationId xmlns:p14="http://schemas.microsoft.com/office/powerpoint/2010/main" val="1906689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064E6-D900-42C2-871B-F5817F1F73BA}"/>
              </a:ext>
            </a:extLst>
          </p:cNvPr>
          <p:cNvSpPr>
            <a:spLocks noGrp="1"/>
          </p:cNvSpPr>
          <p:nvPr>
            <p:ph idx="1"/>
          </p:nvPr>
        </p:nvSpPr>
        <p:spPr>
          <a:xfrm>
            <a:off x="1029810" y="1358283"/>
            <a:ext cx="6098960" cy="4332303"/>
          </a:xfrm>
        </p:spPr>
        <p:txBody>
          <a:bodyPr>
            <a:normAutofit/>
          </a:bodyPr>
          <a:lstStyle/>
          <a:p>
            <a:r>
              <a:rPr lang="en-US" sz="2800" dirty="0">
                <a:solidFill>
                  <a:schemeClr val="tx1">
                    <a:lumMod val="95000"/>
                    <a:lumOff val="5000"/>
                  </a:schemeClr>
                </a:solidFill>
              </a:rPr>
              <a:t>Difference between School and competitive exam</a:t>
            </a:r>
          </a:p>
          <a:p>
            <a:r>
              <a:rPr lang="en-US" sz="2800" dirty="0">
                <a:solidFill>
                  <a:srgbClr val="FF0000"/>
                </a:solidFill>
              </a:rPr>
              <a:t>Strategies for competitive exams</a:t>
            </a:r>
          </a:p>
          <a:p>
            <a:r>
              <a:rPr lang="en-US" sz="2800" dirty="0"/>
              <a:t>How to prepare for JEE</a:t>
            </a:r>
          </a:p>
          <a:p>
            <a:r>
              <a:rPr lang="en-US" sz="2800" dirty="0"/>
              <a:t>Importance of Self Analysis</a:t>
            </a:r>
          </a:p>
          <a:p>
            <a:r>
              <a:rPr lang="en-US" sz="2800" dirty="0"/>
              <a:t> Why FIITJEE</a:t>
            </a:r>
          </a:p>
        </p:txBody>
      </p:sp>
    </p:spTree>
    <p:extLst>
      <p:ext uri="{BB962C8B-B14F-4D97-AF65-F5344CB8AC3E}">
        <p14:creationId xmlns:p14="http://schemas.microsoft.com/office/powerpoint/2010/main" val="11178313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722D-926B-4C1D-BFE7-1B1E18784DFD}"/>
              </a:ext>
            </a:extLst>
          </p:cNvPr>
          <p:cNvSpPr>
            <a:spLocks noGrp="1"/>
          </p:cNvSpPr>
          <p:nvPr>
            <p:ph type="title"/>
          </p:nvPr>
        </p:nvSpPr>
        <p:spPr/>
        <p:txBody>
          <a:bodyPr>
            <a:normAutofit/>
          </a:bodyPr>
          <a:lstStyle/>
          <a:p>
            <a:r>
              <a:rPr lang="en-US" dirty="0">
                <a:solidFill>
                  <a:schemeClr val="accent1">
                    <a:lumMod val="50000"/>
                  </a:schemeClr>
                </a:solidFill>
              </a:rPr>
              <a:t>Strategies for competitive exams</a:t>
            </a:r>
          </a:p>
        </p:txBody>
      </p:sp>
      <p:sp>
        <p:nvSpPr>
          <p:cNvPr id="3" name="Content Placeholder 2">
            <a:extLst>
              <a:ext uri="{FF2B5EF4-FFF2-40B4-BE49-F238E27FC236}">
                <a16:creationId xmlns:a16="http://schemas.microsoft.com/office/drawing/2014/main" id="{CA96195C-4E14-4247-AFE6-E4B896F01AA4}"/>
              </a:ext>
            </a:extLst>
          </p:cNvPr>
          <p:cNvSpPr>
            <a:spLocks noGrp="1"/>
          </p:cNvSpPr>
          <p:nvPr>
            <p:ph idx="1"/>
          </p:nvPr>
        </p:nvSpPr>
        <p:spPr/>
        <p:txBody>
          <a:bodyPr>
            <a:normAutofit/>
          </a:bodyPr>
          <a:lstStyle/>
          <a:p>
            <a:r>
              <a:rPr lang="en-US" sz="1900" dirty="0">
                <a:solidFill>
                  <a:srgbClr val="333333"/>
                </a:solidFill>
                <a:latin typeface="Lato"/>
              </a:rPr>
              <a:t>Prepare well in the right manner.</a:t>
            </a:r>
          </a:p>
          <a:p>
            <a:r>
              <a:rPr lang="en-US" sz="1900" dirty="0">
                <a:solidFill>
                  <a:srgbClr val="333333"/>
                </a:solidFill>
                <a:latin typeface="Lato"/>
              </a:rPr>
              <a:t>Plan effectively your study time</a:t>
            </a:r>
          </a:p>
          <a:p>
            <a:r>
              <a:rPr lang="en-US" sz="1900" dirty="0">
                <a:solidFill>
                  <a:srgbClr val="333333"/>
                </a:solidFill>
                <a:latin typeface="Lato"/>
              </a:rPr>
              <a:t>Avoid any kind of distractions during preparation</a:t>
            </a:r>
          </a:p>
          <a:p>
            <a:r>
              <a:rPr lang="en-US" sz="1900" dirty="0">
                <a:solidFill>
                  <a:srgbClr val="333333"/>
                </a:solidFill>
                <a:latin typeface="Lato"/>
              </a:rPr>
              <a:t>Focus on concepts and practice as your teacher suggests you to do</a:t>
            </a:r>
          </a:p>
          <a:p>
            <a:r>
              <a:rPr lang="en-US" sz="1900" dirty="0">
                <a:solidFill>
                  <a:srgbClr val="333333"/>
                </a:solidFill>
                <a:latin typeface="Lato"/>
              </a:rPr>
              <a:t>Make use of mock papers</a:t>
            </a:r>
          </a:p>
          <a:p>
            <a:r>
              <a:rPr lang="en-US" sz="1900" dirty="0">
                <a:solidFill>
                  <a:srgbClr val="333333"/>
                </a:solidFill>
                <a:latin typeface="Lato"/>
              </a:rPr>
              <a:t>Stay positive and confident</a:t>
            </a:r>
          </a:p>
          <a:p>
            <a:pPr lvl="1">
              <a:buFont typeface="Wingdings" panose="05000000000000000000" pitchFamily="2" charset="2"/>
              <a:buChar char="q"/>
            </a:pPr>
            <a:r>
              <a:rPr lang="en-US" sz="1900" dirty="0">
                <a:solidFill>
                  <a:srgbClr val="333333"/>
                </a:solidFill>
                <a:latin typeface="Lato"/>
              </a:rPr>
              <a:t>Believe in yourself and your preparation</a:t>
            </a:r>
          </a:p>
          <a:p>
            <a:pPr marL="0" indent="0">
              <a:buNone/>
            </a:pPr>
            <a:r>
              <a:rPr lang="en-US" sz="1900" dirty="0">
                <a:solidFill>
                  <a:srgbClr val="0070C0"/>
                </a:solidFill>
                <a:latin typeface="Lato"/>
              </a:rPr>
              <a:t>It is true that competitive exams are not that easy to ace it, but it is also not something impossible.</a:t>
            </a:r>
          </a:p>
          <a:p>
            <a:endPar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None/>
            </a:pPr>
            <a:endParaRPr lang="en-US" dirty="0"/>
          </a:p>
          <a:p>
            <a:pPr marL="57150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364316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064E6-D900-42C2-871B-F5817F1F73BA}"/>
              </a:ext>
            </a:extLst>
          </p:cNvPr>
          <p:cNvSpPr>
            <a:spLocks noGrp="1"/>
          </p:cNvSpPr>
          <p:nvPr>
            <p:ph idx="1"/>
          </p:nvPr>
        </p:nvSpPr>
        <p:spPr>
          <a:xfrm>
            <a:off x="1029810" y="1358283"/>
            <a:ext cx="6098960" cy="4332303"/>
          </a:xfrm>
        </p:spPr>
        <p:txBody>
          <a:bodyPr>
            <a:normAutofit/>
          </a:bodyPr>
          <a:lstStyle/>
          <a:p>
            <a:r>
              <a:rPr lang="en-US" sz="2800" dirty="0">
                <a:solidFill>
                  <a:schemeClr val="tx1">
                    <a:lumMod val="95000"/>
                    <a:lumOff val="5000"/>
                  </a:schemeClr>
                </a:solidFill>
              </a:rPr>
              <a:t>Difference between School and competitive exam</a:t>
            </a:r>
          </a:p>
          <a:p>
            <a:r>
              <a:rPr lang="en-US" sz="2800" dirty="0">
                <a:solidFill>
                  <a:schemeClr val="tx1">
                    <a:lumMod val="95000"/>
                    <a:lumOff val="5000"/>
                  </a:schemeClr>
                </a:solidFill>
              </a:rPr>
              <a:t>Strategies for competitive exams</a:t>
            </a:r>
          </a:p>
          <a:p>
            <a:r>
              <a:rPr lang="en-US" sz="2800" dirty="0">
                <a:solidFill>
                  <a:srgbClr val="FF0000"/>
                </a:solidFill>
              </a:rPr>
              <a:t>How to prepare for JEE</a:t>
            </a:r>
          </a:p>
          <a:p>
            <a:r>
              <a:rPr lang="en-US" sz="2800" dirty="0"/>
              <a:t>Importance of Self Analysis</a:t>
            </a:r>
          </a:p>
          <a:p>
            <a:r>
              <a:rPr lang="en-US" sz="2800" dirty="0"/>
              <a:t> Why FIITJEE</a:t>
            </a:r>
          </a:p>
        </p:txBody>
      </p:sp>
    </p:spTree>
    <p:extLst>
      <p:ext uri="{BB962C8B-B14F-4D97-AF65-F5344CB8AC3E}">
        <p14:creationId xmlns:p14="http://schemas.microsoft.com/office/powerpoint/2010/main" val="2203101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722D-926B-4C1D-BFE7-1B1E18784DFD}"/>
              </a:ext>
            </a:extLst>
          </p:cNvPr>
          <p:cNvSpPr>
            <a:spLocks noGrp="1"/>
          </p:cNvSpPr>
          <p:nvPr>
            <p:ph type="title"/>
          </p:nvPr>
        </p:nvSpPr>
        <p:spPr/>
        <p:txBody>
          <a:bodyPr>
            <a:normAutofit/>
          </a:bodyPr>
          <a:lstStyle/>
          <a:p>
            <a:r>
              <a:rPr lang="en-US" dirty="0">
                <a:solidFill>
                  <a:schemeClr val="accent1">
                    <a:lumMod val="50000"/>
                  </a:schemeClr>
                </a:solidFill>
              </a:rPr>
              <a:t>How to prepare for JEE</a:t>
            </a:r>
            <a:br>
              <a:rPr lang="en-US" sz="3600" dirty="0">
                <a:solidFill>
                  <a:srgbClr val="FF0000"/>
                </a:solidFill>
              </a:rPr>
            </a:br>
            <a:endParaRPr lang="en-US" sz="3600" dirty="0">
              <a:solidFill>
                <a:srgbClr val="FF0000"/>
              </a:solidFill>
            </a:endParaRPr>
          </a:p>
        </p:txBody>
      </p:sp>
      <p:sp>
        <p:nvSpPr>
          <p:cNvPr id="3" name="Content Placeholder 2">
            <a:extLst>
              <a:ext uri="{FF2B5EF4-FFF2-40B4-BE49-F238E27FC236}">
                <a16:creationId xmlns:a16="http://schemas.microsoft.com/office/drawing/2014/main" id="{CA96195C-4E14-4247-AFE6-E4B896F01AA4}"/>
              </a:ext>
            </a:extLst>
          </p:cNvPr>
          <p:cNvSpPr>
            <a:spLocks noGrp="1"/>
          </p:cNvSpPr>
          <p:nvPr>
            <p:ph idx="1"/>
          </p:nvPr>
        </p:nvSpPr>
        <p:spPr/>
        <p:txBody>
          <a:bodyPr>
            <a:normAutofit/>
          </a:bodyPr>
          <a:lstStyle/>
          <a:p>
            <a:r>
              <a:rPr lang="en-US" dirty="0">
                <a:solidFill>
                  <a:srgbClr val="333333"/>
                </a:solidFill>
                <a:latin typeface="Lato"/>
              </a:rPr>
              <a:t>Revise regularly</a:t>
            </a:r>
          </a:p>
          <a:p>
            <a:pPr lvl="1"/>
            <a:r>
              <a:rPr lang="en-US" sz="1800" dirty="0">
                <a:solidFill>
                  <a:srgbClr val="333333"/>
                </a:solidFill>
                <a:latin typeface="Lato"/>
              </a:rPr>
              <a:t>Revise things at regular interval</a:t>
            </a:r>
          </a:p>
          <a:p>
            <a:pPr lvl="1"/>
            <a:r>
              <a:rPr lang="en-US" sz="1800" dirty="0">
                <a:solidFill>
                  <a:srgbClr val="333333"/>
                </a:solidFill>
                <a:latin typeface="Lato"/>
              </a:rPr>
              <a:t>During revision, go through notes, reattempt starred question and attempt a few new questions</a:t>
            </a:r>
          </a:p>
          <a:p>
            <a:pPr lvl="1"/>
            <a:r>
              <a:rPr lang="en-US" sz="1800" dirty="0">
                <a:solidFill>
                  <a:srgbClr val="333333"/>
                </a:solidFill>
                <a:latin typeface="Lato"/>
              </a:rPr>
              <a:t>Revising at regular intervals will help you memorize the concepts for a long term</a:t>
            </a:r>
          </a:p>
          <a:p>
            <a:pPr marL="457200" lvl="1" indent="0">
              <a:buNone/>
            </a:pPr>
            <a:endParaRPr lang="en-US" sz="1800" dirty="0">
              <a:solidFill>
                <a:srgbClr val="333333"/>
              </a:solidFill>
              <a:latin typeface="Lato"/>
            </a:endParaRPr>
          </a:p>
          <a:p>
            <a:r>
              <a:rPr lang="en-US" dirty="0">
                <a:solidFill>
                  <a:srgbClr val="333333"/>
                </a:solidFill>
                <a:latin typeface="Lato"/>
              </a:rPr>
              <a:t>Analyze your performance </a:t>
            </a:r>
          </a:p>
          <a:p>
            <a:pPr lvl="1"/>
            <a:r>
              <a:rPr lang="en-US" sz="1800" dirty="0">
                <a:solidFill>
                  <a:srgbClr val="333333"/>
                </a:solidFill>
                <a:latin typeface="Lato"/>
              </a:rPr>
              <a:t>After solving a test, analyze your answer sheet and do not forget to revise those topics which you have got wrong</a:t>
            </a:r>
          </a:p>
          <a:p>
            <a:pPr marL="57150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580334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722D-926B-4C1D-BFE7-1B1E18784DFD}"/>
              </a:ext>
            </a:extLst>
          </p:cNvPr>
          <p:cNvSpPr>
            <a:spLocks noGrp="1"/>
          </p:cNvSpPr>
          <p:nvPr>
            <p:ph type="title"/>
          </p:nvPr>
        </p:nvSpPr>
        <p:spPr/>
        <p:txBody>
          <a:bodyPr>
            <a:normAutofit/>
          </a:bodyPr>
          <a:lstStyle/>
          <a:p>
            <a:r>
              <a:rPr lang="en-US" sz="4000" dirty="0">
                <a:solidFill>
                  <a:schemeClr val="accent1">
                    <a:lumMod val="50000"/>
                  </a:schemeClr>
                </a:solidFill>
              </a:rPr>
              <a:t>How to prepare for JEE</a:t>
            </a:r>
            <a:br>
              <a:rPr lang="en-US" sz="3600" dirty="0">
                <a:solidFill>
                  <a:srgbClr val="FF0000"/>
                </a:solidFill>
              </a:rPr>
            </a:br>
            <a:endParaRPr lang="en-US" sz="3600" dirty="0">
              <a:solidFill>
                <a:srgbClr val="FF0000"/>
              </a:solidFill>
            </a:endParaRPr>
          </a:p>
        </p:txBody>
      </p:sp>
      <p:sp>
        <p:nvSpPr>
          <p:cNvPr id="3" name="Content Placeholder 2">
            <a:extLst>
              <a:ext uri="{FF2B5EF4-FFF2-40B4-BE49-F238E27FC236}">
                <a16:creationId xmlns:a16="http://schemas.microsoft.com/office/drawing/2014/main" id="{CA96195C-4E14-4247-AFE6-E4B896F01AA4}"/>
              </a:ext>
            </a:extLst>
          </p:cNvPr>
          <p:cNvSpPr>
            <a:spLocks noGrp="1"/>
          </p:cNvSpPr>
          <p:nvPr>
            <p:ph idx="1"/>
          </p:nvPr>
        </p:nvSpPr>
        <p:spPr/>
        <p:txBody>
          <a:bodyPr>
            <a:normAutofit lnSpcReduction="10000"/>
          </a:bodyPr>
          <a:lstStyle/>
          <a:p>
            <a:r>
              <a:rPr lang="en-US" dirty="0">
                <a:solidFill>
                  <a:srgbClr val="333333"/>
                </a:solidFill>
                <a:latin typeface="Lato"/>
              </a:rPr>
              <a:t>Make short notes</a:t>
            </a:r>
          </a:p>
          <a:p>
            <a:pPr lvl="1"/>
            <a:r>
              <a:rPr lang="en-US" sz="1800" dirty="0">
                <a:solidFill>
                  <a:srgbClr val="333333"/>
                </a:solidFill>
                <a:latin typeface="Lato"/>
              </a:rPr>
              <a:t>It helps in regular revision which is very important</a:t>
            </a:r>
          </a:p>
          <a:p>
            <a:pPr lvl="1"/>
            <a:r>
              <a:rPr lang="en-US" sz="1800" dirty="0">
                <a:solidFill>
                  <a:srgbClr val="333333"/>
                </a:solidFill>
                <a:latin typeface="Lato"/>
              </a:rPr>
              <a:t>Making short notes will make sure that you never forget important points</a:t>
            </a:r>
          </a:p>
          <a:p>
            <a:pPr marL="457200" lvl="1" indent="0">
              <a:buNone/>
            </a:pPr>
            <a:r>
              <a:rPr lang="en-US" sz="1800" dirty="0">
                <a:solidFill>
                  <a:srgbClr val="333333"/>
                </a:solidFill>
                <a:latin typeface="Lato"/>
              </a:rPr>
              <a:t>Write down all formulae, reactions, reaction mechanisms, important conditions and exceptions while making short notes.</a:t>
            </a:r>
          </a:p>
          <a:p>
            <a:pPr marL="457200" lvl="1" indent="0">
              <a:buNone/>
            </a:pPr>
            <a:endParaRPr lang="en-US" sz="1800" dirty="0">
              <a:solidFill>
                <a:srgbClr val="333333"/>
              </a:solidFill>
              <a:latin typeface="Lato"/>
            </a:endParaRPr>
          </a:p>
          <a:p>
            <a:r>
              <a:rPr lang="en-US" dirty="0">
                <a:solidFill>
                  <a:srgbClr val="333333"/>
                </a:solidFill>
                <a:latin typeface="Lato"/>
              </a:rPr>
              <a:t>Do a little bit of physical activity and meditation to improve your concentration.</a:t>
            </a:r>
          </a:p>
          <a:p>
            <a:pPr lvl="1"/>
            <a:r>
              <a:rPr lang="en-US" sz="1800" dirty="0">
                <a:solidFill>
                  <a:srgbClr val="333333"/>
                </a:solidFill>
                <a:latin typeface="Lato"/>
              </a:rPr>
              <a:t>It is good for your mental health and improves productivity.</a:t>
            </a:r>
          </a:p>
          <a:p>
            <a:pPr lvl="1"/>
            <a:endParaRPr lang="en-US"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None/>
            </a:pPr>
            <a:endParaRPr lang="en-US" dirty="0"/>
          </a:p>
          <a:p>
            <a:pPr marL="57150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846340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064E6-D900-42C2-871B-F5817F1F73BA}"/>
              </a:ext>
            </a:extLst>
          </p:cNvPr>
          <p:cNvSpPr>
            <a:spLocks noGrp="1"/>
          </p:cNvSpPr>
          <p:nvPr>
            <p:ph idx="1"/>
          </p:nvPr>
        </p:nvSpPr>
        <p:spPr>
          <a:xfrm>
            <a:off x="1029810" y="1358283"/>
            <a:ext cx="6098960" cy="4332303"/>
          </a:xfrm>
        </p:spPr>
        <p:txBody>
          <a:bodyPr>
            <a:normAutofit/>
          </a:bodyPr>
          <a:lstStyle/>
          <a:p>
            <a:r>
              <a:rPr lang="en-US" sz="2800" dirty="0">
                <a:solidFill>
                  <a:schemeClr val="tx1">
                    <a:lumMod val="95000"/>
                    <a:lumOff val="5000"/>
                  </a:schemeClr>
                </a:solidFill>
              </a:rPr>
              <a:t>Difference between School and competitive exam</a:t>
            </a:r>
          </a:p>
          <a:p>
            <a:r>
              <a:rPr lang="en-US" sz="2800" dirty="0">
                <a:solidFill>
                  <a:schemeClr val="tx1">
                    <a:lumMod val="95000"/>
                    <a:lumOff val="5000"/>
                  </a:schemeClr>
                </a:solidFill>
              </a:rPr>
              <a:t>Strategies for competitive exams</a:t>
            </a:r>
          </a:p>
          <a:p>
            <a:r>
              <a:rPr lang="en-US" sz="2800" dirty="0"/>
              <a:t>How to prepare for JEE</a:t>
            </a:r>
          </a:p>
          <a:p>
            <a:r>
              <a:rPr lang="en-US" sz="2800" dirty="0">
                <a:solidFill>
                  <a:srgbClr val="FF0000"/>
                </a:solidFill>
              </a:rPr>
              <a:t>Importance of Self Analysis</a:t>
            </a:r>
          </a:p>
          <a:p>
            <a:r>
              <a:rPr lang="en-US" sz="2800" dirty="0"/>
              <a:t> Why FIITJEE</a:t>
            </a:r>
          </a:p>
        </p:txBody>
      </p:sp>
    </p:spTree>
    <p:extLst>
      <p:ext uri="{BB962C8B-B14F-4D97-AF65-F5344CB8AC3E}">
        <p14:creationId xmlns:p14="http://schemas.microsoft.com/office/powerpoint/2010/main" val="11210234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722D-926B-4C1D-BFE7-1B1E18784DFD}"/>
              </a:ext>
            </a:extLst>
          </p:cNvPr>
          <p:cNvSpPr>
            <a:spLocks noGrp="1"/>
          </p:cNvSpPr>
          <p:nvPr>
            <p:ph type="title"/>
          </p:nvPr>
        </p:nvSpPr>
        <p:spPr/>
        <p:txBody>
          <a:bodyPr>
            <a:normAutofit fontScale="90000"/>
          </a:bodyPr>
          <a:lstStyle/>
          <a:p>
            <a:r>
              <a:rPr lang="en-US" sz="4400" dirty="0">
                <a:solidFill>
                  <a:schemeClr val="accent1">
                    <a:lumMod val="50000"/>
                  </a:schemeClr>
                </a:solidFill>
              </a:rPr>
              <a:t>Importance of Self Analysis</a:t>
            </a:r>
            <a:br>
              <a:rPr lang="en-US" sz="4000" dirty="0">
                <a:solidFill>
                  <a:srgbClr val="FF0000"/>
                </a:solidFill>
              </a:rPr>
            </a:br>
            <a:br>
              <a:rPr lang="en-US" sz="3600" dirty="0">
                <a:solidFill>
                  <a:srgbClr val="FF0000"/>
                </a:solidFill>
              </a:rPr>
            </a:br>
            <a:endParaRPr lang="en-US" sz="3600" dirty="0">
              <a:solidFill>
                <a:srgbClr val="FF0000"/>
              </a:solidFill>
            </a:endParaRPr>
          </a:p>
        </p:txBody>
      </p:sp>
      <p:sp>
        <p:nvSpPr>
          <p:cNvPr id="3" name="Content Placeholder 2">
            <a:extLst>
              <a:ext uri="{FF2B5EF4-FFF2-40B4-BE49-F238E27FC236}">
                <a16:creationId xmlns:a16="http://schemas.microsoft.com/office/drawing/2014/main" id="{CA96195C-4E14-4247-AFE6-E4B896F01AA4}"/>
              </a:ext>
            </a:extLst>
          </p:cNvPr>
          <p:cNvSpPr>
            <a:spLocks noGrp="1"/>
          </p:cNvSpPr>
          <p:nvPr>
            <p:ph idx="1"/>
          </p:nvPr>
        </p:nvSpPr>
        <p:spPr/>
        <p:txBody>
          <a:bodyPr>
            <a:normAutofit/>
          </a:bodyPr>
          <a:lstStyle/>
          <a:p>
            <a:pPr lvl="1"/>
            <a:endParaRPr lang="en-US"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None/>
            </a:pPr>
            <a:endParaRPr lang="en-US" dirty="0"/>
          </a:p>
          <a:p>
            <a:pPr marL="57150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
        <p:nvSpPr>
          <p:cNvPr id="6" name="Content Placeholder 2">
            <a:extLst>
              <a:ext uri="{FF2B5EF4-FFF2-40B4-BE49-F238E27FC236}">
                <a16:creationId xmlns:a16="http://schemas.microsoft.com/office/drawing/2014/main" id="{AC353567-AE11-469D-AEB9-00992992878D}"/>
              </a:ext>
            </a:extLst>
          </p:cNvPr>
          <p:cNvSpPr txBox="1">
            <a:spLocks/>
          </p:cNvSpPr>
          <p:nvPr/>
        </p:nvSpPr>
        <p:spPr>
          <a:xfrm>
            <a:off x="761999" y="2312990"/>
            <a:ext cx="6347714"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solidFill>
                  <a:srgbClr val="333333"/>
                </a:solidFill>
                <a:latin typeface="Lato"/>
              </a:rPr>
              <a:t>What are your strong and weak areas?</a:t>
            </a:r>
          </a:p>
          <a:p>
            <a:r>
              <a:rPr lang="en-US" dirty="0">
                <a:solidFill>
                  <a:srgbClr val="333333"/>
                </a:solidFill>
                <a:latin typeface="Lato"/>
              </a:rPr>
              <a:t>On which questions are you spending more time than necessary?</a:t>
            </a:r>
          </a:p>
          <a:p>
            <a:r>
              <a:rPr lang="en-US" dirty="0">
                <a:solidFill>
                  <a:srgbClr val="333333"/>
                </a:solidFill>
                <a:latin typeface="Lato"/>
              </a:rPr>
              <a:t>How are you handling different difficulty level questions in the exam?</a:t>
            </a:r>
          </a:p>
          <a:p>
            <a:pPr marL="0" indent="0">
              <a:buNone/>
            </a:pPr>
            <a:r>
              <a:rPr lang="en-US" dirty="0">
                <a:solidFill>
                  <a:srgbClr val="0070C0"/>
                </a:solidFill>
                <a:latin typeface="Lato"/>
              </a:rPr>
              <a:t>To find out the answers to these questions, you need to do self analysis</a:t>
            </a: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endParaRPr lang="en-US" dirty="0">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Font typeface="Wingdings 3" charset="2"/>
              <a:buNone/>
            </a:pPr>
            <a:endParaRPr lang="en-US" dirty="0"/>
          </a:p>
          <a:p>
            <a:pPr marL="571500" indent="0">
              <a:lnSpc>
                <a:spcPct val="107000"/>
              </a:lnSpc>
              <a:spcBef>
                <a:spcPts val="0"/>
              </a:spcBef>
              <a:buFont typeface="Wingdings 3" charset="2"/>
              <a:buNone/>
            </a:pPr>
            <a:endParaRPr lang="en-US" dirty="0">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786835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722D-926B-4C1D-BFE7-1B1E18784DFD}"/>
              </a:ext>
            </a:extLst>
          </p:cNvPr>
          <p:cNvSpPr>
            <a:spLocks noGrp="1"/>
          </p:cNvSpPr>
          <p:nvPr>
            <p:ph type="title"/>
          </p:nvPr>
        </p:nvSpPr>
        <p:spPr/>
        <p:txBody>
          <a:bodyPr>
            <a:normAutofit fontScale="90000"/>
          </a:bodyPr>
          <a:lstStyle/>
          <a:p>
            <a:r>
              <a:rPr lang="en-US" sz="4000" dirty="0">
                <a:solidFill>
                  <a:schemeClr val="accent1">
                    <a:lumMod val="50000"/>
                  </a:schemeClr>
                </a:solidFill>
              </a:rPr>
              <a:t>Importance of Self Analysis</a:t>
            </a:r>
            <a:br>
              <a:rPr lang="en-US" sz="4000" dirty="0">
                <a:solidFill>
                  <a:srgbClr val="FF0000"/>
                </a:solidFill>
              </a:rPr>
            </a:br>
            <a:br>
              <a:rPr lang="en-US" sz="3600" dirty="0">
                <a:solidFill>
                  <a:srgbClr val="FF0000"/>
                </a:solidFill>
              </a:rPr>
            </a:br>
            <a:endParaRPr lang="en-US" sz="3600" dirty="0">
              <a:solidFill>
                <a:srgbClr val="FF0000"/>
              </a:solidFill>
            </a:endParaRPr>
          </a:p>
        </p:txBody>
      </p:sp>
      <p:sp>
        <p:nvSpPr>
          <p:cNvPr id="3" name="Content Placeholder 2">
            <a:extLst>
              <a:ext uri="{FF2B5EF4-FFF2-40B4-BE49-F238E27FC236}">
                <a16:creationId xmlns:a16="http://schemas.microsoft.com/office/drawing/2014/main" id="{CA96195C-4E14-4247-AFE6-E4B896F01AA4}"/>
              </a:ext>
            </a:extLst>
          </p:cNvPr>
          <p:cNvSpPr>
            <a:spLocks noGrp="1"/>
          </p:cNvSpPr>
          <p:nvPr>
            <p:ph idx="1"/>
          </p:nvPr>
        </p:nvSpPr>
        <p:spPr/>
        <p:txBody>
          <a:bodyPr>
            <a:normAutofit/>
          </a:bodyPr>
          <a:lstStyle/>
          <a:p>
            <a:pPr lvl="1"/>
            <a:endParaRPr lang="en-US"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None/>
            </a:pPr>
            <a:endParaRPr lang="en-US" dirty="0"/>
          </a:p>
          <a:p>
            <a:pPr marL="57150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
        <p:nvSpPr>
          <p:cNvPr id="6" name="Content Placeholder 2">
            <a:extLst>
              <a:ext uri="{FF2B5EF4-FFF2-40B4-BE49-F238E27FC236}">
                <a16:creationId xmlns:a16="http://schemas.microsoft.com/office/drawing/2014/main" id="{AC353567-AE11-469D-AEB9-00992992878D}"/>
              </a:ext>
            </a:extLst>
          </p:cNvPr>
          <p:cNvSpPr txBox="1">
            <a:spLocks/>
          </p:cNvSpPr>
          <p:nvPr/>
        </p:nvSpPr>
        <p:spPr>
          <a:xfrm>
            <a:off x="761999" y="2312990"/>
            <a:ext cx="6347714"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solidFill>
                  <a:srgbClr val="333333"/>
                </a:solidFill>
                <a:latin typeface="Lato"/>
              </a:rPr>
              <a:t>It helps you figure out your strengths and weaknesses</a:t>
            </a:r>
          </a:p>
          <a:p>
            <a:r>
              <a:rPr lang="en-US" dirty="0">
                <a:solidFill>
                  <a:srgbClr val="333333"/>
                </a:solidFill>
                <a:latin typeface="Lato"/>
              </a:rPr>
              <a:t>It gives you an idea of how to improve your performance </a:t>
            </a:r>
          </a:p>
          <a:p>
            <a:r>
              <a:rPr lang="en-US" dirty="0">
                <a:solidFill>
                  <a:srgbClr val="333333"/>
                </a:solidFill>
                <a:latin typeface="Lato"/>
              </a:rPr>
              <a:t>It will also help you to come up with better problem-solving techniques</a:t>
            </a:r>
          </a:p>
          <a:p>
            <a:endParaRPr lang="en-US" dirty="0">
              <a:solidFill>
                <a:srgbClr val="333333"/>
              </a:solidFill>
              <a:latin typeface="Libre Franklin"/>
            </a:endParaRPr>
          </a:p>
          <a:p>
            <a:pPr marL="0" indent="0">
              <a:buNone/>
            </a:pPr>
            <a:r>
              <a:rPr lang="en-US" dirty="0">
                <a:solidFill>
                  <a:srgbClr val="0070C0"/>
                </a:solidFill>
                <a:latin typeface="Lato"/>
              </a:rPr>
              <a:t>Detailed Self-Assessment will give you the scope to prepare using a systematic and targeted preparation strategy which will help you reach your maximum potential.</a:t>
            </a:r>
          </a:p>
          <a:p>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endParaRPr lang="en-US" dirty="0">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Font typeface="Wingdings 3" charset="2"/>
              <a:buNone/>
            </a:pPr>
            <a:endParaRPr lang="en-US" dirty="0"/>
          </a:p>
          <a:p>
            <a:pPr marL="571500" indent="0">
              <a:lnSpc>
                <a:spcPct val="107000"/>
              </a:lnSpc>
              <a:spcBef>
                <a:spcPts val="0"/>
              </a:spcBef>
              <a:buFont typeface="Wingdings 3" charset="2"/>
              <a:buNone/>
            </a:pPr>
            <a:endParaRPr lang="en-US" dirty="0">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556047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4064E6-D900-42C2-871B-F5817F1F73BA}"/>
              </a:ext>
            </a:extLst>
          </p:cNvPr>
          <p:cNvSpPr>
            <a:spLocks noGrp="1"/>
          </p:cNvSpPr>
          <p:nvPr>
            <p:ph idx="1"/>
          </p:nvPr>
        </p:nvSpPr>
        <p:spPr>
          <a:xfrm>
            <a:off x="1029810" y="1358283"/>
            <a:ext cx="6098960" cy="4332303"/>
          </a:xfrm>
        </p:spPr>
        <p:txBody>
          <a:bodyPr>
            <a:normAutofit/>
          </a:bodyPr>
          <a:lstStyle/>
          <a:p>
            <a:r>
              <a:rPr lang="en-US" sz="2800" dirty="0">
                <a:solidFill>
                  <a:schemeClr val="tx1">
                    <a:lumMod val="95000"/>
                    <a:lumOff val="5000"/>
                  </a:schemeClr>
                </a:solidFill>
              </a:rPr>
              <a:t>Difference between School and competitive exam</a:t>
            </a:r>
          </a:p>
          <a:p>
            <a:r>
              <a:rPr lang="en-US" sz="2800" dirty="0">
                <a:solidFill>
                  <a:schemeClr val="tx1">
                    <a:lumMod val="95000"/>
                    <a:lumOff val="5000"/>
                  </a:schemeClr>
                </a:solidFill>
              </a:rPr>
              <a:t>Strategies for competitive exams</a:t>
            </a:r>
          </a:p>
          <a:p>
            <a:r>
              <a:rPr lang="en-US" sz="2800" dirty="0"/>
              <a:t>How to prepare for JEE</a:t>
            </a:r>
          </a:p>
          <a:p>
            <a:r>
              <a:rPr lang="en-US" sz="2800" dirty="0"/>
              <a:t>Importance of Self Analysis</a:t>
            </a:r>
          </a:p>
          <a:p>
            <a:r>
              <a:rPr lang="en-US" sz="2800" dirty="0"/>
              <a:t> </a:t>
            </a:r>
            <a:r>
              <a:rPr lang="en-US" sz="2800" dirty="0">
                <a:solidFill>
                  <a:srgbClr val="FF0000"/>
                </a:solidFill>
              </a:rPr>
              <a:t>Why FIITJEE</a:t>
            </a:r>
          </a:p>
        </p:txBody>
      </p:sp>
    </p:spTree>
    <p:extLst>
      <p:ext uri="{BB962C8B-B14F-4D97-AF65-F5344CB8AC3E}">
        <p14:creationId xmlns:p14="http://schemas.microsoft.com/office/powerpoint/2010/main" val="633746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722D-926B-4C1D-BFE7-1B1E18784DFD}"/>
              </a:ext>
            </a:extLst>
          </p:cNvPr>
          <p:cNvSpPr>
            <a:spLocks noGrp="1"/>
          </p:cNvSpPr>
          <p:nvPr>
            <p:ph type="title"/>
          </p:nvPr>
        </p:nvSpPr>
        <p:spPr/>
        <p:txBody>
          <a:bodyPr>
            <a:normAutofit fontScale="90000"/>
          </a:bodyPr>
          <a:lstStyle/>
          <a:p>
            <a:r>
              <a:rPr lang="en-US" sz="4000" dirty="0"/>
              <a:t> </a:t>
            </a:r>
            <a:r>
              <a:rPr lang="en-US" sz="4000" dirty="0">
                <a:solidFill>
                  <a:schemeClr val="accent1">
                    <a:lumMod val="50000"/>
                  </a:schemeClr>
                </a:solidFill>
              </a:rPr>
              <a:t>Why FIITJEE</a:t>
            </a:r>
            <a:br>
              <a:rPr lang="en-US" sz="4000" dirty="0"/>
            </a:br>
            <a:br>
              <a:rPr lang="en-US" sz="4000" dirty="0">
                <a:solidFill>
                  <a:srgbClr val="FF0000"/>
                </a:solidFill>
              </a:rPr>
            </a:br>
            <a:br>
              <a:rPr lang="en-US" sz="3600" dirty="0">
                <a:solidFill>
                  <a:srgbClr val="FF0000"/>
                </a:solidFill>
              </a:rPr>
            </a:br>
            <a:endParaRPr lang="en-US" sz="3600" dirty="0">
              <a:solidFill>
                <a:srgbClr val="FF0000"/>
              </a:solidFill>
            </a:endParaRPr>
          </a:p>
        </p:txBody>
      </p:sp>
      <p:sp>
        <p:nvSpPr>
          <p:cNvPr id="3" name="Content Placeholder 2">
            <a:extLst>
              <a:ext uri="{FF2B5EF4-FFF2-40B4-BE49-F238E27FC236}">
                <a16:creationId xmlns:a16="http://schemas.microsoft.com/office/drawing/2014/main" id="{CA96195C-4E14-4247-AFE6-E4B896F01AA4}"/>
              </a:ext>
            </a:extLst>
          </p:cNvPr>
          <p:cNvSpPr>
            <a:spLocks noGrp="1"/>
          </p:cNvSpPr>
          <p:nvPr>
            <p:ph idx="1"/>
          </p:nvPr>
        </p:nvSpPr>
        <p:spPr/>
        <p:txBody>
          <a:bodyPr>
            <a:normAutofit/>
          </a:bodyPr>
          <a:lstStyle/>
          <a:p>
            <a:pPr lvl="1"/>
            <a:endParaRPr lang="en-US"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None/>
            </a:pPr>
            <a:endParaRPr lang="en-US" dirty="0"/>
          </a:p>
          <a:p>
            <a:pPr marL="57150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
        <p:nvSpPr>
          <p:cNvPr id="6" name="Content Placeholder 2">
            <a:extLst>
              <a:ext uri="{FF2B5EF4-FFF2-40B4-BE49-F238E27FC236}">
                <a16:creationId xmlns:a16="http://schemas.microsoft.com/office/drawing/2014/main" id="{AC353567-AE11-469D-AEB9-00992992878D}"/>
              </a:ext>
            </a:extLst>
          </p:cNvPr>
          <p:cNvSpPr txBox="1">
            <a:spLocks/>
          </p:cNvSpPr>
          <p:nvPr/>
        </p:nvSpPr>
        <p:spPr>
          <a:xfrm>
            <a:off x="761999" y="1930400"/>
            <a:ext cx="6347714" cy="4263363"/>
          </a:xfrm>
          <a:prstGeom prst="rect">
            <a:avLst/>
          </a:prstGeom>
        </p:spPr>
        <p:txBody>
          <a:bodyPr vert="horz" lIns="91440" tIns="45720" rIns="91440" bIns="45720" rtlCol="0">
            <a:normAutofit fontScale="77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i="0" cap="all" dirty="0">
                <a:solidFill>
                  <a:srgbClr val="2E2E2E"/>
                </a:solidFill>
                <a:effectLst/>
                <a:latin typeface="Open Sans"/>
              </a:rPr>
              <a:t>PATTERN PROOF TEACHING METHODOLOGY</a:t>
            </a:r>
          </a:p>
          <a:p>
            <a:pPr marL="457200" lvl="1" indent="0">
              <a:buNone/>
            </a:pPr>
            <a:r>
              <a:rPr lang="en-US" sz="2100" dirty="0">
                <a:solidFill>
                  <a:srgbClr val="333333"/>
                </a:solidFill>
                <a:latin typeface="Lato"/>
              </a:rPr>
              <a:t>FIITJEE has always been preparing Students in a fundamental way. FIITJEE has been teaching in a comprehensive manner so that Students do well in IIT-JEE (irrespective of the pattern), Boards, NTSE, KVPY, Olympiads and Other Engineering Entrance Exams. For many years, our Students have been securing admissions in the top 10 US Universities where admission is based on the performance of School + Last Board Exam and SAT-I, SAT-II, AP Exams &amp; TOEFL.</a:t>
            </a:r>
            <a:br>
              <a:rPr lang="en-US" sz="2100" dirty="0">
                <a:solidFill>
                  <a:srgbClr val="333333"/>
                </a:solidFill>
                <a:latin typeface="Lato"/>
              </a:rPr>
            </a:br>
            <a:br>
              <a:rPr lang="en-US" sz="2100" dirty="0">
                <a:solidFill>
                  <a:srgbClr val="333333"/>
                </a:solidFill>
                <a:latin typeface="Lato"/>
              </a:rPr>
            </a:br>
            <a:r>
              <a:rPr lang="en-US" sz="2100" dirty="0">
                <a:solidFill>
                  <a:srgbClr val="333333"/>
                </a:solidFill>
                <a:latin typeface="Lato"/>
              </a:rPr>
              <a:t>The Testing pattern of IIT-JEE also keeps on changing but the key aspect of the test is to judge the analytical ability of the aspirants along with the understanding of fundamentals.</a:t>
            </a:r>
            <a:br>
              <a:rPr lang="en-US" sz="2100" dirty="0">
                <a:solidFill>
                  <a:srgbClr val="333333"/>
                </a:solidFill>
                <a:latin typeface="Lato"/>
              </a:rPr>
            </a:br>
            <a:br>
              <a:rPr lang="en-US" sz="2100" dirty="0">
                <a:solidFill>
                  <a:srgbClr val="333333"/>
                </a:solidFill>
                <a:latin typeface="Lato"/>
              </a:rPr>
            </a:br>
            <a:r>
              <a:rPr lang="en-US" sz="2100" dirty="0">
                <a:solidFill>
                  <a:srgbClr val="333333"/>
                </a:solidFill>
                <a:latin typeface="Lato"/>
              </a:rPr>
              <a:t>Students having sound understanding of fundamental concepts &amp; </a:t>
            </a:r>
            <a:r>
              <a:rPr lang="en-US" sz="2100" dirty="0" err="1">
                <a:solidFill>
                  <a:srgbClr val="333333"/>
                </a:solidFill>
                <a:latin typeface="Lato"/>
              </a:rPr>
              <a:t>practising</a:t>
            </a:r>
            <a:r>
              <a:rPr lang="en-US" sz="2100" dirty="0">
                <a:solidFill>
                  <a:srgbClr val="333333"/>
                </a:solidFill>
                <a:latin typeface="Lato"/>
              </a:rPr>
              <a:t> varied types of problems will always outperform the Students who confine their preparation to the exam pattern only, rather than understanding the concepts.</a:t>
            </a:r>
          </a:p>
          <a:p>
            <a:pPr marL="457200" lvl="1"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endParaRPr lang="en-US" dirty="0">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Font typeface="Wingdings 3" charset="2"/>
              <a:buNone/>
            </a:pPr>
            <a:endParaRPr lang="en-US" dirty="0"/>
          </a:p>
          <a:p>
            <a:pPr marL="571500" indent="0">
              <a:lnSpc>
                <a:spcPct val="107000"/>
              </a:lnSpc>
              <a:spcBef>
                <a:spcPts val="0"/>
              </a:spcBef>
              <a:buFont typeface="Wingdings 3" charset="2"/>
              <a:buNone/>
            </a:pPr>
            <a:endParaRPr lang="en-US" dirty="0">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1348198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722D-926B-4C1D-BFE7-1B1E18784DFD}"/>
              </a:ext>
            </a:extLst>
          </p:cNvPr>
          <p:cNvSpPr>
            <a:spLocks noGrp="1"/>
          </p:cNvSpPr>
          <p:nvPr>
            <p:ph type="title"/>
          </p:nvPr>
        </p:nvSpPr>
        <p:spPr/>
        <p:txBody>
          <a:bodyPr>
            <a:normAutofit fontScale="90000"/>
          </a:bodyPr>
          <a:lstStyle/>
          <a:p>
            <a:r>
              <a:rPr lang="en-US" sz="4000" dirty="0"/>
              <a:t> </a:t>
            </a:r>
            <a:r>
              <a:rPr lang="en-US" sz="3200" dirty="0">
                <a:solidFill>
                  <a:schemeClr val="accent1">
                    <a:lumMod val="50000"/>
                  </a:schemeClr>
                </a:solidFill>
              </a:rPr>
              <a:t>Why FIITJEE</a:t>
            </a:r>
            <a:br>
              <a:rPr lang="en-US" sz="4000" dirty="0"/>
            </a:br>
            <a:br>
              <a:rPr lang="en-US" sz="4000" dirty="0">
                <a:solidFill>
                  <a:srgbClr val="FF0000"/>
                </a:solidFill>
              </a:rPr>
            </a:br>
            <a:br>
              <a:rPr lang="en-US" sz="3600" dirty="0">
                <a:solidFill>
                  <a:srgbClr val="FF0000"/>
                </a:solidFill>
              </a:rPr>
            </a:br>
            <a:endParaRPr lang="en-US" sz="3600" dirty="0">
              <a:solidFill>
                <a:srgbClr val="FF0000"/>
              </a:solidFill>
            </a:endParaRPr>
          </a:p>
        </p:txBody>
      </p:sp>
      <p:sp>
        <p:nvSpPr>
          <p:cNvPr id="3" name="Content Placeholder 2">
            <a:extLst>
              <a:ext uri="{FF2B5EF4-FFF2-40B4-BE49-F238E27FC236}">
                <a16:creationId xmlns:a16="http://schemas.microsoft.com/office/drawing/2014/main" id="{CA96195C-4E14-4247-AFE6-E4B896F01AA4}"/>
              </a:ext>
            </a:extLst>
          </p:cNvPr>
          <p:cNvSpPr>
            <a:spLocks noGrp="1"/>
          </p:cNvSpPr>
          <p:nvPr>
            <p:ph idx="1"/>
          </p:nvPr>
        </p:nvSpPr>
        <p:spPr/>
        <p:txBody>
          <a:bodyPr>
            <a:normAutofit/>
          </a:bodyPr>
          <a:lstStyle/>
          <a:p>
            <a:pPr lvl="1"/>
            <a:endParaRPr lang="en-US"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None/>
            </a:pPr>
            <a:endParaRPr lang="en-US" dirty="0"/>
          </a:p>
          <a:p>
            <a:pPr marL="57150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
        <p:nvSpPr>
          <p:cNvPr id="6" name="Content Placeholder 2">
            <a:extLst>
              <a:ext uri="{FF2B5EF4-FFF2-40B4-BE49-F238E27FC236}">
                <a16:creationId xmlns:a16="http://schemas.microsoft.com/office/drawing/2014/main" id="{AC353567-AE11-469D-AEB9-00992992878D}"/>
              </a:ext>
            </a:extLst>
          </p:cNvPr>
          <p:cNvSpPr txBox="1">
            <a:spLocks/>
          </p:cNvSpPr>
          <p:nvPr/>
        </p:nvSpPr>
        <p:spPr>
          <a:xfrm>
            <a:off x="834501" y="2312990"/>
            <a:ext cx="6275212"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l"/>
            <a:r>
              <a:rPr lang="en-US" sz="1700" b="1" cap="all" dirty="0">
                <a:solidFill>
                  <a:srgbClr val="2E2E2E"/>
                </a:solidFill>
                <a:latin typeface="Open Sans"/>
              </a:rPr>
              <a:t>PERSONALIZED COACHING</a:t>
            </a:r>
          </a:p>
          <a:p>
            <a:pPr marL="400050" lvl="1" indent="0">
              <a:buNone/>
            </a:pPr>
            <a:r>
              <a:rPr lang="en-US" dirty="0">
                <a:solidFill>
                  <a:srgbClr val="333333"/>
                </a:solidFill>
                <a:latin typeface="Lato"/>
              </a:rPr>
              <a:t>Individual attention is given to every Student irrespective of one’s standing in the merit at any point of time. We never increase our batch size beyond a limit, this facilitates proper Student-Faculty interaction. Our faculty is always willing to clear doubts of Students even individually, if required. Our focus is better results through conceptual clarity and constant support instead of increasing the batch size.</a:t>
            </a:r>
          </a:p>
          <a:p>
            <a:pPr marL="457200" lvl="1"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endParaRPr lang="en-US" dirty="0">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Font typeface="Wingdings 3" charset="2"/>
              <a:buNone/>
            </a:pPr>
            <a:endParaRPr lang="en-US" dirty="0"/>
          </a:p>
          <a:p>
            <a:pPr marL="571500" indent="0">
              <a:lnSpc>
                <a:spcPct val="107000"/>
              </a:lnSpc>
              <a:spcBef>
                <a:spcPts val="0"/>
              </a:spcBef>
              <a:buFont typeface="Wingdings 3" charset="2"/>
              <a:buNone/>
            </a:pPr>
            <a:endParaRPr lang="en-US" dirty="0">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619953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722D-926B-4C1D-BFE7-1B1E18784DFD}"/>
              </a:ext>
            </a:extLst>
          </p:cNvPr>
          <p:cNvSpPr>
            <a:spLocks noGrp="1"/>
          </p:cNvSpPr>
          <p:nvPr>
            <p:ph type="title"/>
          </p:nvPr>
        </p:nvSpPr>
        <p:spPr/>
        <p:txBody>
          <a:bodyPr>
            <a:normAutofit fontScale="90000"/>
          </a:bodyPr>
          <a:lstStyle/>
          <a:p>
            <a:r>
              <a:rPr lang="en-US" sz="4000"/>
              <a:t> </a:t>
            </a:r>
            <a:r>
              <a:rPr lang="en-US" sz="3200">
                <a:solidFill>
                  <a:schemeClr val="accent1">
                    <a:lumMod val="50000"/>
                  </a:schemeClr>
                </a:solidFill>
              </a:rPr>
              <a:t>Why FIITJEE</a:t>
            </a:r>
            <a:br>
              <a:rPr lang="en-US" sz="4000" dirty="0"/>
            </a:br>
            <a:br>
              <a:rPr lang="en-US" sz="4000" dirty="0">
                <a:solidFill>
                  <a:srgbClr val="FF0000"/>
                </a:solidFill>
              </a:rPr>
            </a:br>
            <a:br>
              <a:rPr lang="en-US" sz="3600" dirty="0">
                <a:solidFill>
                  <a:srgbClr val="FF0000"/>
                </a:solidFill>
              </a:rPr>
            </a:br>
            <a:endParaRPr lang="en-US" sz="3600" dirty="0">
              <a:solidFill>
                <a:srgbClr val="FF0000"/>
              </a:solidFill>
            </a:endParaRPr>
          </a:p>
        </p:txBody>
      </p:sp>
      <p:sp>
        <p:nvSpPr>
          <p:cNvPr id="3" name="Content Placeholder 2">
            <a:extLst>
              <a:ext uri="{FF2B5EF4-FFF2-40B4-BE49-F238E27FC236}">
                <a16:creationId xmlns:a16="http://schemas.microsoft.com/office/drawing/2014/main" id="{CA96195C-4E14-4247-AFE6-E4B896F01AA4}"/>
              </a:ext>
            </a:extLst>
          </p:cNvPr>
          <p:cNvSpPr>
            <a:spLocks noGrp="1"/>
          </p:cNvSpPr>
          <p:nvPr>
            <p:ph idx="1"/>
          </p:nvPr>
        </p:nvSpPr>
        <p:spPr/>
        <p:txBody>
          <a:bodyPr>
            <a:normAutofit/>
          </a:bodyPr>
          <a:lstStyle/>
          <a:p>
            <a:pPr lvl="1"/>
            <a:endParaRPr lang="en-US"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None/>
            </a:pPr>
            <a:endParaRPr lang="en-US" sz="18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None/>
            </a:pPr>
            <a:endParaRPr lang="en-US" dirty="0"/>
          </a:p>
          <a:p>
            <a:pPr marL="571500" marR="0" indent="0">
              <a:lnSpc>
                <a:spcPct val="107000"/>
              </a:lnSpc>
              <a:spcBef>
                <a:spcPts val="0"/>
              </a:spcBef>
              <a:spcAft>
                <a:spcPts val="0"/>
              </a:spcAft>
              <a:buNone/>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
        <p:nvSpPr>
          <p:cNvPr id="6" name="Content Placeholder 2">
            <a:extLst>
              <a:ext uri="{FF2B5EF4-FFF2-40B4-BE49-F238E27FC236}">
                <a16:creationId xmlns:a16="http://schemas.microsoft.com/office/drawing/2014/main" id="{AC353567-AE11-469D-AEB9-00992992878D}"/>
              </a:ext>
            </a:extLst>
          </p:cNvPr>
          <p:cNvSpPr txBox="1">
            <a:spLocks/>
          </p:cNvSpPr>
          <p:nvPr/>
        </p:nvSpPr>
        <p:spPr>
          <a:xfrm>
            <a:off x="761999" y="2312990"/>
            <a:ext cx="602941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b="1" i="0" cap="all" dirty="0">
                <a:solidFill>
                  <a:srgbClr val="2E2E2E"/>
                </a:solidFill>
                <a:effectLst/>
                <a:latin typeface="Open Sans"/>
              </a:rPr>
              <a:t>STUDY RESOURCES</a:t>
            </a:r>
          </a:p>
          <a:p>
            <a:pPr marL="400050" lvl="1" indent="0">
              <a:buNone/>
            </a:pPr>
            <a:r>
              <a:rPr lang="en-US" dirty="0">
                <a:solidFill>
                  <a:srgbClr val="333333"/>
                </a:solidFill>
                <a:latin typeface="Lato"/>
              </a:rPr>
              <a:t>FIITJEE's study resources have been prepared based on years of experience &amp; expertise and it includes best quality practice assignment with different types of questions to give students a complete exposure to concepts</a:t>
            </a:r>
          </a:p>
          <a:p>
            <a:pPr marL="457200" lvl="1" indent="0">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pPr marL="0" indent="0">
              <a:buFont typeface="Wingdings 3" charset="2"/>
              <a:buNone/>
            </a:pPr>
            <a:endParaRPr lang="en-US" dirty="0">
              <a:solidFill>
                <a:srgbClr val="000000"/>
              </a:solidFill>
              <a:latin typeface="Arial" panose="020B0604020202020204" pitchFamily="34" charset="0"/>
              <a:ea typeface="Times New Roman" panose="02020603050405020304" pitchFamily="18" charset="0"/>
              <a:cs typeface="Times New Roman" panose="02020603050405020304" pitchFamily="18" charset="0"/>
            </a:endParaRPr>
          </a:p>
          <a:p>
            <a:endParaRPr lang="en-US" dirty="0">
              <a:latin typeface="Calibri" panose="020F0502020204030204" pitchFamily="34" charset="0"/>
              <a:ea typeface="Calibri" panose="020F0502020204030204" pitchFamily="34" charset="0"/>
              <a:cs typeface="Times New Roman" panose="02020603050405020304" pitchFamily="18" charset="0"/>
            </a:endParaRPr>
          </a:p>
          <a:p>
            <a:pPr marL="571500" indent="0">
              <a:lnSpc>
                <a:spcPct val="107000"/>
              </a:lnSpc>
              <a:spcBef>
                <a:spcPts val="0"/>
              </a:spcBef>
              <a:buFont typeface="Wingdings 3" charset="2"/>
              <a:buNone/>
            </a:pPr>
            <a:endParaRPr lang="en-US" dirty="0"/>
          </a:p>
          <a:p>
            <a:pPr marL="571500" indent="0">
              <a:lnSpc>
                <a:spcPct val="107000"/>
              </a:lnSpc>
              <a:spcBef>
                <a:spcPts val="0"/>
              </a:spcBef>
              <a:buFont typeface="Wingdings 3" charset="2"/>
              <a:buNone/>
            </a:pPr>
            <a:endParaRPr lang="en-US" dirty="0">
              <a:latin typeface="Calibri" panose="020F0502020204030204" pitchFamily="34" charset="0"/>
              <a:ea typeface="Calibri" panose="020F0502020204030204" pitchFamily="34" charset="0"/>
              <a:cs typeface="Times New Roman" panose="02020603050405020304" pitchFamily="18" charset="0"/>
            </a:endParaRP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2492434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A3B2B-745C-4169-80F4-5E3F9C07212F}"/>
              </a:ext>
            </a:extLst>
          </p:cNvPr>
          <p:cNvSpPr>
            <a:spLocks noGrp="1"/>
          </p:cNvSpPr>
          <p:nvPr>
            <p:ph type="ctrTitle"/>
          </p:nvPr>
        </p:nvSpPr>
        <p:spPr>
          <a:xfrm>
            <a:off x="1793288" y="2831977"/>
            <a:ext cx="4660777" cy="941033"/>
          </a:xfrm>
        </p:spPr>
        <p:txBody>
          <a:bodyPr/>
          <a:lstStyle/>
          <a:p>
            <a:pPr algn="ctr"/>
            <a:r>
              <a:rPr lang="en-US" dirty="0"/>
              <a:t>THANK </a:t>
            </a:r>
            <a:r>
              <a:rPr lang="en-US"/>
              <a:t>YOU!</a:t>
            </a:r>
            <a:endParaRPr lang="en-US" dirty="0"/>
          </a:p>
        </p:txBody>
      </p:sp>
    </p:spTree>
    <p:extLst>
      <p:ext uri="{BB962C8B-B14F-4D97-AF65-F5344CB8AC3E}">
        <p14:creationId xmlns:p14="http://schemas.microsoft.com/office/powerpoint/2010/main" val="79187445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83</TotalTime>
  <Words>815</Words>
  <Application>Microsoft Office PowerPoint</Application>
  <PresentationFormat>On-screen Show (4:3)</PresentationFormat>
  <Paragraphs>184</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Calibri</vt:lpstr>
      <vt:lpstr>Lato</vt:lpstr>
      <vt:lpstr>Libre Franklin</vt:lpstr>
      <vt:lpstr>Open Sans</vt:lpstr>
      <vt:lpstr>Trebuchet MS</vt:lpstr>
      <vt:lpstr>Wingdings</vt:lpstr>
      <vt:lpstr>Wingdings 3</vt:lpstr>
      <vt:lpstr>Facet</vt:lpstr>
      <vt:lpstr>Science of success in Corona time</vt:lpstr>
      <vt:lpstr>PowerPoint Presentation</vt:lpstr>
      <vt:lpstr>Difference between School and competitive exam</vt:lpstr>
      <vt:lpstr>PowerPoint Presentation</vt:lpstr>
      <vt:lpstr>Strategies for competitive exams</vt:lpstr>
      <vt:lpstr>PowerPoint Presentation</vt:lpstr>
      <vt:lpstr>How to prepare for JEE </vt:lpstr>
      <vt:lpstr>How to prepare for JEE </vt:lpstr>
      <vt:lpstr>PowerPoint Presentation</vt:lpstr>
      <vt:lpstr>Importance of Self Analysis  </vt:lpstr>
      <vt:lpstr>Importance of Self Analysis  </vt:lpstr>
      <vt:lpstr>PowerPoint Presentation</vt:lpstr>
      <vt:lpstr> Why FIITJEE   </vt:lpstr>
      <vt:lpstr> Why FIITJEE   </vt:lpstr>
      <vt:lpstr> Why FIITJEE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Manju Gupta</dc:creator>
  <cp:lastModifiedBy>Manju Gupta</cp:lastModifiedBy>
  <cp:revision>31</cp:revision>
  <dcterms:created xsi:type="dcterms:W3CDTF">2020-11-25T17:28:53Z</dcterms:created>
  <dcterms:modified xsi:type="dcterms:W3CDTF">2020-11-26T03:08:07Z</dcterms:modified>
</cp:coreProperties>
</file>